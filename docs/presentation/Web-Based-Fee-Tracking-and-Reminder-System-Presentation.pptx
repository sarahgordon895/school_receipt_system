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7" autoAdjust="0"/>
    <p:restoredTop sz="94660"/>
  </p:normalViewPr>
  <p:slideViewPr>
    <p:cSldViewPr snapToGrid="0">
      <p:cViewPr varScale="1">
        <p:scale>
          <a:sx n="170" d="100"/>
          <a:sy n="170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5719"/>
            <a:ext cx="9144000" cy="210424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3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8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8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3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1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0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7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1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4016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43451"/>
            <a:ext cx="10515600" cy="3133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DE604-6095-4678-BC07-E2D82692C32E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0BFE9-4B9A-47F6-B191-1DB0FEFC830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 noSelect="1" noRot="1" noMove="1" noResize="1" noEditPoints="1" noAdjustHandles="1" noChangeArrowheads="1" noChangeShapeType="1" noTextEdit="1"/>
          </p:cNvSpPr>
          <p:nvPr userDrawn="1">
            <p:custDataLst>
              <p:tags r:id="rId13"/>
            </p:custDataLst>
          </p:nvPr>
        </p:nvSpPr>
        <p:spPr>
          <a:xfrm>
            <a:off x="0" y="-6522"/>
            <a:ext cx="12192000" cy="13444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 noGrp="1" noSelect="1" noRot="1" noMove="1" noResize="1" noEditPoints="1" noAdjustHandles="1" noChangeArrowheads="1" noChangeShapeType="1" noTextEdit="1"/>
          </p:cNvSpPr>
          <p:nvPr userDrawn="1">
            <p:custDataLst>
              <p:tags r:id="rId14"/>
            </p:custDataLst>
          </p:nvPr>
        </p:nvSpPr>
        <p:spPr>
          <a:xfrm>
            <a:off x="2196509" y="204056"/>
            <a:ext cx="8377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odoni MT" panose="02070603080606020203" pitchFamily="18" charset="0"/>
              </a:rPr>
              <a:t>University of Dar es Salaam</a:t>
            </a:r>
          </a:p>
        </p:txBody>
      </p:sp>
      <p:pic>
        <p:nvPicPr>
          <p:cNvPr id="11" name="Picture 10"/>
          <p:cNvPicPr>
            <a:picLocks noGrp="1" noSelect="1" noRot="1" noMove="1" noResize="1" noEditPoints="1" noAdjustHandles="1" noChangeArrowheads="1" noChangeShapeType="1"/>
          </p:cNvPicPr>
          <p:nvPr userDrawn="1">
            <p:custDataLst>
              <p:tags r:id="rId15"/>
            </p:custDataLst>
          </p:nvPr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5418" b="89955" l="3837" r="85214">
                        <a14:foregroundMark x1="8126" y1="74041" x2="48081" y2="88713"/>
                        <a14:foregroundMark x1="14673" y1="73025" x2="8691" y2="78104"/>
                        <a14:foregroundMark x1="76298" y1="74944" x2="81941" y2="787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86" t="5714" r="15078" b="10053"/>
          <a:stretch/>
        </p:blipFill>
        <p:spPr>
          <a:xfrm>
            <a:off x="838200" y="19640"/>
            <a:ext cx="1236969" cy="129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7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44168"/>
            <a:ext cx="12191695" cy="5513832"/>
          </a:xfrm>
          <a:prstGeom prst="rect">
            <a:avLst/>
          </a:prstGeom>
          <a:solidFill>
            <a:srgbClr val="F7F9F7"/>
          </a:solidFill>
          <a:ln>
            <a:solidFill>
              <a:srgbClr val="F7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44168"/>
            <a:ext cx="3611880" cy="551383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47088"/>
            <a:ext cx="269748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FINAL YEAR PROJECT</a:t>
            </a:r>
            <a:br/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212080"/>
            <a:ext cx="269748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E2EFF8"/>
                </a:solidFill>
                <a:latin typeface="Aptos"/>
              </a:defRPr>
            </a:pPr>
            <a:r>
              <a:t>College of Information and Communication Technologies</a:t>
            </a:r>
            <a:br/>
            <a: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172200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1">
                <a:solidFill>
                  <a:srgbClr val="CDA027"/>
                </a:solidFill>
                <a:latin typeface="Aptos"/>
              </a:defRPr>
            </a:pPr>
            <a: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1828800"/>
            <a:ext cx="713232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000" b="1">
                <a:solidFill>
                  <a:srgbClr val="0070C0"/>
                </a:solidFill>
                <a:latin typeface="Aptos"/>
              </a:defRPr>
            </a:pPr>
            <a:r>
              <a:t>WEB-BASED FEE TRACKING</a:t>
            </a:r>
            <a:br/>
            <a:r>
              <a:t>AND REMINDER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163824"/>
            <a:ext cx="681228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0">
                <a:solidFill>
                  <a:srgbClr val="5B6D67"/>
                </a:solidFill>
                <a:latin typeface="Aptos"/>
              </a:defRPr>
            </a:pPr>
            <a:r>
              <a:t>A focused fee management, receipt, reporting and parent communication platform for Mbonea Secondary School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3895344"/>
            <a:ext cx="6903720" cy="1828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4114800"/>
            <a:ext cx="1280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5B6D67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443984"/>
            <a:ext cx="5074920" cy="11155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50" b="0">
                <a:solidFill>
                  <a:srgbClr val="1C2B27"/>
                </a:solidFill>
                <a:latin typeface="Aptos"/>
              </a:defRPr>
            </a:pPr>
            <a:r>
              <a:t>Innocent Richard Mkumbo  ·  2024-02-00404</a:t>
            </a:r>
            <a:br/>
            <a:r>
              <a:t>Sarah George Gordon  ·  2024-02-00133</a:t>
            </a:r>
            <a:br/>
            <a:r>
              <a:t>Charles Dani Chaula  ·  2024-02-00080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114800"/>
            <a:ext cx="1280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5B6D67"/>
                </a:solidFill>
                <a:latin typeface="Aptos"/>
              </a:defRPr>
            </a:pPr>
            <a: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462272"/>
            <a:ext cx="1645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Aptos"/>
              </a:defRPr>
            </a:pPr>
            <a:r>
              <a:t>Sir Paul Haule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5724144"/>
            <a:ext cx="2514600" cy="292608"/>
          </a:xfrm>
          <a:prstGeom prst="roundRect">
            <a:avLst/>
          </a:prstGeom>
          <a:solidFill>
            <a:srgbClr val="E2EFF8"/>
          </a:solidFill>
          <a:ln>
            <a:solidFill>
              <a:srgbClr val="E2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04504" y="5742431"/>
            <a:ext cx="2404872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ptos"/>
              </a:defRPr>
            </a:pPr>
            <a:r>
              <a:t>Diploma in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850392"/>
            <a:ext cx="8823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50" b="0">
                <a:solidFill>
                  <a:srgbClr val="E2EFF8"/>
                </a:solidFill>
                <a:latin typeface="Aptos"/>
              </a:defRPr>
            </a:pPr>
            <a:r>
              <a:t>Why Mbonea Secondary School needed a focused fee information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38404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The existing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10512"/>
            <a:ext cx="4983480" cy="32918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1C2B27"/>
                </a:solidFill>
                <a:latin typeface="Aptos"/>
              </a:defRPr>
            </a:pPr>
            <a:r>
              <a:t>•  Fee records were spread across receipt books, notebooks and separate spreadsheets.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1C2B27"/>
                </a:solidFill>
                <a:latin typeface="Aptos"/>
              </a:defRPr>
            </a:pPr>
            <a:r>
              <a:t>•  Staff repeatedly searched and reconciled records to establish a student's current balance.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1C2B27"/>
                </a:solidFill>
                <a:latin typeface="Aptos"/>
              </a:defRPr>
            </a:pPr>
            <a:r>
              <a:t>•  Parents often depended on students, phone calls or school visits for payment information.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1C2B27"/>
                </a:solidFill>
                <a:latin typeface="Aptos"/>
              </a:defRPr>
            </a:pPr>
            <a:r>
              <a:t>•  As transactions increased, inconsistent balances and delayed communication became more likely.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230368"/>
            <a:ext cx="5074920" cy="84124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5431536"/>
            <a:ext cx="4681728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53427"/>
                </a:solidFill>
                <a:latin typeface="Aptos"/>
              </a:rPr>
              <a:t>Project response: </a:t>
            </a:r>
            <a:r>
              <a:rPr sz="1400" b="0">
                <a:solidFill>
                  <a:srgbClr val="1C2B27"/>
                </a:solidFill>
                <a:latin typeface="Aptos"/>
              </a:rPr>
              <a:t>one web application for students, fees, payments, receipts, reports and parent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73152" cy="84124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1673351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1691639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655063"/>
            <a:ext cx="427024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Paper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75688"/>
            <a:ext cx="475488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Slow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65176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2651760"/>
            <a:ext cx="73152" cy="84124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2816352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1928" y="283464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798064"/>
            <a:ext cx="427024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Separate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218688"/>
            <a:ext cx="475488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Different balances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79476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794760"/>
            <a:ext cx="73152" cy="84124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63640" y="3959352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8" y="397764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941064"/>
            <a:ext cx="427024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Informal 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61688"/>
            <a:ext cx="475488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Delayed parent updates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4937760"/>
            <a:ext cx="5166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0760" y="4937760"/>
            <a:ext cx="73152" cy="841248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63640" y="5102352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81928" y="512064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5084064"/>
            <a:ext cx="427024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Central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504688"/>
            <a:ext cx="475488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Reliable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850392"/>
            <a:ext cx="8823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50" b="0">
                <a:solidFill>
                  <a:srgbClr val="E2EFF8"/>
                </a:solidFill>
                <a:latin typeface="Aptos"/>
              </a:defRPr>
            </a:pPr>
            <a:r>
              <a:t>Fragmented records affected accuracy, workload, reporting and parent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528523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508760"/>
            <a:ext cx="73152" cy="1389888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3"/>
            <a:ext cx="487375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No single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75688"/>
            <a:ext cx="4873752" cy="7040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Payment information could exist in several places, leaving balances out of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08760"/>
            <a:ext cx="528523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508760"/>
            <a:ext cx="73152" cy="138988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55063"/>
            <a:ext cx="487375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Manual calculation 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075688"/>
            <a:ext cx="4873752" cy="7040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Bursars spent time searching, combining and recalculating fee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528523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337560"/>
            <a:ext cx="73152" cy="138988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483864"/>
            <a:ext cx="487375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Slow parent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04487"/>
            <a:ext cx="4873752" cy="7040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Deadlines, confirmations and outstanding balances were not always delivered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337560"/>
            <a:ext cx="5285232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3337560"/>
            <a:ext cx="73152" cy="1389888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83864"/>
            <a:ext cx="487375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Weak access and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904487"/>
            <a:ext cx="4873752" cy="7040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Paper files offered limited role control, ownership checks and message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239512"/>
            <a:ext cx="10826496" cy="768096"/>
          </a:xfrm>
          <a:prstGeom prst="roundRect">
            <a:avLst/>
          </a:prstGeom>
          <a:solidFill>
            <a:srgbClr val="053427"/>
          </a:solidFill>
          <a:ln>
            <a:solidFill>
              <a:srgbClr val="05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431536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1">
                <a:solidFill>
                  <a:srgbClr val="CDA027"/>
                </a:solidFill>
                <a:latin typeface="Aptos"/>
              </a:defRPr>
            </a:pPr>
            <a:r>
              <a:t>Need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367528"/>
            <a:ext cx="8759952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An integrated, secure and easy-to-use system that records payments, updates balances, issues receipts, reports to management and communicates directly with parents.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Objectives and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371600"/>
            <a:ext cx="10972800" cy="859536"/>
          </a:xfrm>
          <a:prstGeom prst="roundRect">
            <a:avLst/>
          </a:prstGeom>
          <a:solidFill>
            <a:srgbClr val="053427"/>
          </a:solidFill>
          <a:ln>
            <a:solidFill>
              <a:srgbClr val="05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4173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CDA027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99616"/>
            <a:ext cx="88239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Design, develop and document a web-based fee tracking and reminder system for Mbonea Secondary School.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42032"/>
            <a:ext cx="252374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542032"/>
            <a:ext cx="73152" cy="141732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7" y="2706624"/>
            <a:ext cx="402336" cy="402336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72491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88336"/>
            <a:ext cx="1627631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08960"/>
            <a:ext cx="2112263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Analyse the existing fee process, users, information and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2542032"/>
            <a:ext cx="252374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38144" y="2542032"/>
            <a:ext cx="73152" cy="1417320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21024" y="2706624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272491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688336"/>
            <a:ext cx="1627631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108960"/>
            <a:ext cx="2112263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rPr dirty="0"/>
              <a:t>Create a secure database, workflows and role-based system 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42032"/>
            <a:ext cx="252374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542032"/>
            <a:ext cx="73152" cy="1417320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0" y="2706624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72491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688336"/>
            <a:ext cx="1627631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108960"/>
            <a:ext cx="2112263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Deliver registration, fees, payments, receipts, reports, reminders and parent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2596896"/>
            <a:ext cx="3006236" cy="136245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97696" y="2542032"/>
            <a:ext cx="73152" cy="1417320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0576" y="2706624"/>
            <a:ext cx="402336" cy="402336"/>
          </a:xfrm>
          <a:prstGeom prst="round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98864" y="272491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688336"/>
            <a:ext cx="162763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3108960"/>
            <a:ext cx="2112263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rPr dirty="0"/>
              <a:t>Test the completed workflows and prepare clear technical documentation.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315968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053427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645152"/>
            <a:ext cx="5029200" cy="129844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Fee structures, payments, receipts and balances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SMS/email reminders and parent portal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Reports, bank evidence and clearance certificates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315968"/>
            <a:ext cx="2560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053427"/>
                </a:solidFill>
                <a:latin typeface="Aptos"/>
              </a:defRPr>
            </a:pPr>
            <a:r>
              <a:t>Outside current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645152"/>
            <a:ext cx="4846320" cy="129844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Examinations, attendance and timetables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Full academic / learning management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Public production hosting in this project phase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Stakeholders and 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850392"/>
            <a:ext cx="8823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50" b="0">
                <a:solidFill>
                  <a:srgbClr val="E2EFF8"/>
                </a:solidFill>
                <a:latin typeface="Aptos"/>
              </a:defRPr>
            </a:pPr>
            <a:r>
              <a:t>Role-based access keeps daily operations, configuration and parent records separated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75488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1042415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581912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0020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563624"/>
            <a:ext cx="385876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School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84248"/>
            <a:ext cx="4343400" cy="35661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Registers students, records payments, prints receipts, sends reminders and prepares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70632"/>
            <a:ext cx="475488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770632"/>
            <a:ext cx="73152" cy="1042415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2935224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295351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2916936"/>
            <a:ext cx="385876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Super administrator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4343400" cy="35661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Configures fee structures, categories, school settings, templates and bank accounts.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23944"/>
            <a:ext cx="4754880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123944"/>
            <a:ext cx="73152" cy="104241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4288536"/>
            <a:ext cx="402336" cy="402336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4306824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270248"/>
            <a:ext cx="385876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Parent / guardian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90872"/>
            <a:ext cx="4343400" cy="35661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Views linked children, balances, history and notifications; uploads bank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1353312"/>
            <a:ext cx="580644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69935"/>
            <a:ext cx="5806440" cy="362902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967728" y="5925312"/>
            <a:ext cx="3337560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5943600"/>
            <a:ext cx="3227832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100" b="1">
                <a:solidFill>
                  <a:srgbClr val="053427"/>
                </a:solidFill>
                <a:latin typeface="Aptos"/>
              </a:defRPr>
            </a:pPr>
            <a:r>
              <a:t>Three login paths → one controlled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Methodology and project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850392"/>
            <a:ext cx="8823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50" b="0">
                <a:solidFill>
                  <a:srgbClr val="E2EFF8"/>
                </a:solidFill>
                <a:latin typeface="Aptos"/>
              </a:defRPr>
            </a:pPr>
            <a:r>
              <a:t>Agile, iterative delivery supported by interviews, observation and document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2926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053427"/>
                </a:solidFill>
                <a:latin typeface="Aptos"/>
              </a:defRPr>
            </a:pPr>
            <a:r>
              <a:t>Requirements gathering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3703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773936"/>
            <a:ext cx="73152" cy="713232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920240"/>
            <a:ext cx="329183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40864"/>
            <a:ext cx="3291839" cy="274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User roles, reports and communication needs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51760"/>
            <a:ext cx="3703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" y="2651760"/>
            <a:ext cx="73152" cy="71323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798064"/>
            <a:ext cx="329183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218688"/>
            <a:ext cx="3291839" cy="274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Payment and receipt handling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529584"/>
            <a:ext cx="3703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529584"/>
            <a:ext cx="73152" cy="713232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675887"/>
            <a:ext cx="329183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Document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096511"/>
            <a:ext cx="3291839" cy="274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Data fields, reports and receipt formats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407408"/>
            <a:ext cx="3703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" y="4407408"/>
            <a:ext cx="73152" cy="713232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553712"/>
            <a:ext cx="329183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Group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974336"/>
            <a:ext cx="3291839" cy="274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Priorities and team task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1389888"/>
            <a:ext cx="3108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053427"/>
                </a:solidFill>
                <a:latin typeface="Aptos"/>
              </a:defRPr>
            </a:pPr>
            <a:r>
              <a:t>Six development iterations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6592" y="1773936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36592" y="1773936"/>
            <a:ext cx="73152" cy="768096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19472" y="1938528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59" y="1956816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1920240"/>
            <a:ext cx="2121407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Foundation &amp;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2340864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10144" y="1773936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10144" y="1773936"/>
            <a:ext cx="73152" cy="76809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93023" y="1938528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1956816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1920240"/>
            <a:ext cx="212140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Students &amp; fee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2340864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736592" y="2761488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36592" y="2761488"/>
            <a:ext cx="73152" cy="768096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919472" y="2926080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59" y="2944368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2907792"/>
            <a:ext cx="2121407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Payments &amp; receipts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65192" y="3328416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10144" y="2761488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10144" y="2761488"/>
            <a:ext cx="73152" cy="76809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93023" y="2926080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2944368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3376" y="2907792"/>
            <a:ext cx="212140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8744" y="3328416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736592" y="3749039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36592" y="3749039"/>
            <a:ext cx="73152" cy="768096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919472" y="3913631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37759" y="393192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9824" y="3895344"/>
            <a:ext cx="2121407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Reports &amp; parent access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65192" y="4315968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010144" y="3749039"/>
            <a:ext cx="30175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10144" y="3749039"/>
            <a:ext cx="73152" cy="76809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193023" y="3913631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11312" y="393192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23376" y="3895344"/>
            <a:ext cx="212140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Final testing &amp; documentation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8744" y="4315968"/>
            <a:ext cx="2606039" cy="8229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4736592" y="504748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46320" y="5166359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094A37"/>
                </a:solidFill>
                <a:latin typeface="Aptos"/>
              </a:defRPr>
            </a:pPr>
            <a:r>
              <a:t>12 weeks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5605272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23 Mar – 15 Jun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95160" y="504748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04888" y="5166359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CDA027"/>
                </a:solidFill>
                <a:latin typeface="Aptos"/>
              </a:defRPr>
            </a:pPr>
            <a:r>
              <a:t>TZS 80,000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04888" y="5605272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Academic project budget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53728" y="504748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63455" y="5166359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0070C0"/>
                </a:solidFill>
                <a:latin typeface="Aptos"/>
              </a:defRPr>
            </a:pPr>
            <a:r>
              <a:t>3 members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63455" y="5605272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Front-end, back-end &amp; shared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Requirements translated into completed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072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17320"/>
            <a:ext cx="73152" cy="1298448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563624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84248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Role-based login and access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73152" cy="12984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563624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Student &amp; 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84248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Register, import and official guardian links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1928" y="1417320"/>
            <a:ext cx="73152" cy="129844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563624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Fee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984248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Structures, categories and installment schedule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34856" y="1417320"/>
            <a:ext cx="73152" cy="1298448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63456" y="1563624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1984248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Category allocation, balance and numbered receipt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29900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" y="2990088"/>
            <a:ext cx="73152" cy="1298448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136392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557016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SMS/email templates, reminders and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29900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29000" y="2990088"/>
            <a:ext cx="73152" cy="12984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3136392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557016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Fee position, unpaid, receipt, bank and clearance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9900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81928" y="2990088"/>
            <a:ext cx="73152" cy="1298448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3136392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Parent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557016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Linked children, history, notifications and bank upload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6" y="29900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34856" y="2990088"/>
            <a:ext cx="73152" cy="1298448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3456" y="3136392"/>
            <a:ext cx="219456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3557016"/>
            <a:ext cx="2194560" cy="61264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School identity, message and bank configuration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4800600"/>
            <a:ext cx="10972800" cy="1078992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5010912"/>
            <a:ext cx="2240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053427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956048"/>
            <a:ext cx="8156448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500" b="1">
                <a:solidFill>
                  <a:srgbClr val="1C2B27"/>
                </a:solidFill>
                <a:latin typeface="Aptos"/>
              </a:defRPr>
            </a:pPr>
            <a:r>
              <a:t>Usability  ·  Performance  ·  Security  ·  Reliability  ·  Browser compatibility  ·  Responsive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System architecture and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12" y="850392"/>
            <a:ext cx="8823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50" b="0">
                <a:solidFill>
                  <a:srgbClr val="E2EFF8"/>
                </a:solidFill>
                <a:latin typeface="Aptos"/>
              </a:defRPr>
            </a:pPr>
            <a:r>
              <a:t>Laravel MVC with service classes for communication, reporting and bank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5486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26464"/>
            <a:ext cx="73152" cy="78638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1591056"/>
            <a:ext cx="402336" cy="402336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09344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72768"/>
            <a:ext cx="45902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Web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93392"/>
            <a:ext cx="5074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Responsive Blade + Bootstrap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176272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5B6D6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50592"/>
            <a:ext cx="5486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450592"/>
            <a:ext cx="73152" cy="786384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7" y="2615184"/>
            <a:ext cx="402336" cy="402336"/>
          </a:xfrm>
          <a:prstGeom prst="round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2633472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96896"/>
            <a:ext cx="45902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Routes &amp;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017520"/>
            <a:ext cx="5074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Authentication, CSRF and role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200400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5B6D6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74720"/>
            <a:ext cx="5486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474720"/>
            <a:ext cx="73152" cy="786384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7" y="3639312"/>
            <a:ext cx="402336" cy="402336"/>
          </a:xfrm>
          <a:prstGeom prst="round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3657600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21024"/>
            <a:ext cx="45902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Controllers &amp;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041648"/>
            <a:ext cx="5074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Validation, fee rules, reports, messages, bank parsing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224528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800" b="1">
                <a:solidFill>
                  <a:srgbClr val="5B6D6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98848"/>
            <a:ext cx="5486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498848"/>
            <a:ext cx="73152" cy="786384"/>
          </a:xfrm>
          <a:prstGeom prst="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7" y="4663440"/>
            <a:ext cx="402336" cy="402336"/>
          </a:xfrm>
          <a:prstGeom prst="roundRect">
            <a:avLst/>
          </a:prstGeom>
          <a:solidFill>
            <a:srgbClr val="D33742"/>
          </a:solidFill>
          <a:ln>
            <a:solidFill>
              <a:srgbClr val="D3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4681728"/>
            <a:ext cx="36576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645152"/>
            <a:ext cx="4590288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Models &amp; 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5065776"/>
            <a:ext cx="5074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Related operational records with foreign keys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1426464"/>
            <a:ext cx="4937760" cy="313639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76288" y="1664208"/>
            <a:ext cx="347472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Specialised integrations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39712" y="2139696"/>
            <a:ext cx="2057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39712" y="2139696"/>
            <a:ext cx="73152" cy="786384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68312" y="2286000"/>
            <a:ext cx="16459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SMS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2706624"/>
            <a:ext cx="1645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Payment confirmations &amp; reminders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2139696"/>
            <a:ext cx="2057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98280" y="2139696"/>
            <a:ext cx="73152" cy="786384"/>
          </a:xfrm>
          <a:prstGeom prst="rect">
            <a:avLst/>
          </a:prstGeom>
          <a:solidFill>
            <a:srgbClr val="094A37"/>
          </a:solidFill>
          <a:ln>
            <a:solidFill>
              <a:srgbClr val="09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2286000"/>
            <a:ext cx="16459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Email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706624"/>
            <a:ext cx="1645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Welcome messages &amp; fee notices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39712" y="3145536"/>
            <a:ext cx="2057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39712" y="3145536"/>
            <a:ext cx="73152" cy="786384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68312" y="3291840"/>
            <a:ext cx="16459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DomPDF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3712463"/>
            <a:ext cx="1645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Receipts, reports &amp; clearance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3145536"/>
            <a:ext cx="20574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098280" y="3145536"/>
            <a:ext cx="73152" cy="786384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3291840"/>
            <a:ext cx="16459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053427"/>
                </a:solidFill>
                <a:latin typeface="Aptos"/>
              </a:defRPr>
            </a:pPr>
            <a:r>
              <a:t>Laravel Excel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712463"/>
            <a:ext cx="1645920" cy="10058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50" b="0">
                <a:solidFill>
                  <a:srgbClr val="5B6D67"/>
                </a:solidFill>
                <a:latin typeface="Aptos"/>
              </a:defRPr>
            </a:pPr>
            <a:r>
              <a:t>Student import &amp; report export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4828032"/>
            <a:ext cx="2926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1">
                <a:solidFill>
                  <a:srgbClr val="053427"/>
                </a:solidFill>
                <a:latin typeface="Aptos"/>
              </a:defRPr>
            </a:pPr>
            <a:r>
              <a:t>Implemented technologies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01968" y="52303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56831" y="52486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Laravel 12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08975" y="52303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0" y="52486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PHP 8.2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15984" y="52303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70848" y="52486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22992" y="52303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77856" y="52486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Bootstrap 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01968" y="56875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56831" y="57058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Blade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08975" y="56875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63840" y="57058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Git/GitHub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15984" y="5687568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070848" y="5705855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XAMPP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Database and security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307592"/>
            <a:ext cx="6492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-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307592"/>
            <a:ext cx="50292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42631" y="1399032"/>
            <a:ext cx="274320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Security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1847088"/>
            <a:ext cx="4160520" cy="29718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Hashed passwords and rate-limited login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Role middleware for admin, super admin and parent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Parent record scope through official student links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Validated requests and CSRF protection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Controlled PDF uploads for bank evidence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50">
                <a:solidFill>
                  <a:srgbClr val="1C2B27"/>
                </a:solidFill>
                <a:latin typeface="Aptos"/>
              </a:defRPr>
            </a:pPr>
            <a:r>
              <a:t>•  Foreign keys and unique values for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5010912"/>
            <a:ext cx="4224528" cy="950976"/>
          </a:xfrm>
          <a:prstGeom prst="roundRect">
            <a:avLst/>
          </a:prstGeom>
          <a:solidFill>
            <a:srgbClr val="053427"/>
          </a:solidFill>
          <a:ln>
            <a:solidFill>
              <a:srgbClr val="05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521208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CDA027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5129784"/>
            <a:ext cx="2505456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Every payment, message and parent link remains traceable to the correct student.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8640" y="1307592"/>
            <a:ext cx="736092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Student and parent management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-students.png"/>
          <p:cNvPicPr>
            <a:picLocks noChangeAspect="1"/>
          </p:cNvPicPr>
          <p:nvPr/>
        </p:nvPicPr>
        <p:blipFill>
          <a:blip r:embed="rId2"/>
          <a:srcRect l="3586" r="3586"/>
          <a:stretch>
            <a:fillRect/>
          </a:stretch>
        </p:blipFill>
        <p:spPr>
          <a:xfrm>
            <a:off x="548640" y="1307592"/>
            <a:ext cx="7360920" cy="4956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399032"/>
            <a:ext cx="292608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Implemented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47088"/>
            <a:ext cx="3429000" cy="34290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Register a new student or import from CSV/XLSX.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Select an existing parent account or create a new parent during admission.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Create an official parent–student link with relationship and contact details.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Send a welcome email containing phone login details and a temporary password.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Assign fee structures and apply the school-wide installment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4192" y="5632704"/>
            <a:ext cx="3035808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6" y="5650992"/>
            <a:ext cx="292607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50" b="1">
                <a:solidFill>
                  <a:srgbClr val="053427"/>
                </a:solidFill>
                <a:latin typeface="Aptos"/>
              </a:defRPr>
            </a:pPr>
            <a:r>
              <a:t>One parent can be linked to multiple children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30352" y="1307592"/>
            <a:ext cx="74523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Payment recording and receipt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-record-payment.png"/>
          <p:cNvPicPr>
            <a:picLocks noChangeAspect="1"/>
          </p:cNvPicPr>
          <p:nvPr/>
        </p:nvPicPr>
        <p:blipFill>
          <a:blip r:embed="rId2"/>
          <a:srcRect l="3010" r="3010"/>
          <a:stretch>
            <a:fillRect/>
          </a:stretch>
        </p:blipFill>
        <p:spPr>
          <a:xfrm>
            <a:off x="530352" y="1307592"/>
            <a:ext cx="7452360" cy="49560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307592"/>
            <a:ext cx="3401568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2-activity-diagram-fee-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706" y="1307592"/>
            <a:ext cx="2885354" cy="3547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47888" y="5010912"/>
            <a:ext cx="3319272" cy="10789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Validate student, date, mode and category allocations.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Generate a unique term-based receipt number.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Update paid amount and outstanding balance immediately.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Log and send payment confirmation to the parent.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30352" y="1307592"/>
            <a:ext cx="76809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SMS, email and reminder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-send-reminders.png"/>
          <p:cNvPicPr>
            <a:picLocks noChangeAspect="1"/>
          </p:cNvPicPr>
          <p:nvPr/>
        </p:nvPicPr>
        <p:blipFill>
          <a:blip r:embed="rId2"/>
          <a:srcRect l="1568" r="1568"/>
          <a:stretch>
            <a:fillRect/>
          </a:stretch>
        </p:blipFill>
        <p:spPr>
          <a:xfrm>
            <a:off x="530352" y="1307592"/>
            <a:ext cx="7680960" cy="4956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85632" y="1426464"/>
            <a:ext cx="297180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System-driven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874519"/>
            <a:ext cx="3154680" cy="31546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1C2B27"/>
                </a:solidFill>
                <a:latin typeface="Aptos"/>
              </a:defRPr>
            </a:pPr>
            <a:r>
              <a:t>•  New parents appear automatically in the selectable list.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1C2B27"/>
                </a:solidFill>
                <a:latin typeface="Aptos"/>
              </a:defRPr>
            </a:pPr>
            <a:r>
              <a:t>•  Manual batches are restricted to 1–5 parents.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1C2B27"/>
                </a:solidFill>
                <a:latin typeface="Aptos"/>
              </a:defRPr>
            </a:pPr>
            <a:r>
              <a:t>•  Templates are ordered by fee status: overdue, due today, 3/7/14 days, general.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1C2B27"/>
                </a:solidFill>
                <a:latin typeface="Aptos"/>
              </a:defRPr>
            </a:pPr>
            <a:r>
              <a:t>•  Auto mode chooses the correct template for each selected parent.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1C2B27"/>
                </a:solidFill>
                <a:latin typeface="Aptos"/>
              </a:defRPr>
            </a:pPr>
            <a:r>
              <a:t>•  Scheduled reminders run daily and message history stores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6488" y="5230368"/>
            <a:ext cx="3172968" cy="731520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5422392"/>
            <a:ext cx="77724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1">
                <a:solidFill>
                  <a:srgbClr val="053427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2328" y="5367528"/>
            <a:ext cx="19202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50" b="1">
                <a:solidFill>
                  <a:srgbClr val="1C2B27"/>
                </a:solidFill>
                <a:latin typeface="Aptos"/>
              </a:defRPr>
            </a:pPr>
            <a:r>
              <a:t>SMS  +  Email  +  Portal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30352" y="1307592"/>
            <a:ext cx="7726679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Reports and management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-reports-hub.png"/>
          <p:cNvPicPr>
            <a:picLocks noChangeAspect="1"/>
          </p:cNvPicPr>
          <p:nvPr/>
        </p:nvPicPr>
        <p:blipFill>
          <a:blip r:embed="rId2"/>
          <a:srcRect l="1280" r="1280"/>
          <a:stretch>
            <a:fillRect/>
          </a:stretch>
        </p:blipFill>
        <p:spPr>
          <a:xfrm>
            <a:off x="530352" y="1307592"/>
            <a:ext cx="7726679" cy="4956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22208" y="1417320"/>
            <a:ext cx="2907792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Live reports from recorded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103120"/>
            <a:ext cx="2834640" cy="2697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School fee position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Collection by period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Receipt register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Unpaid balances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Paid / clearance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Message history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Bank proof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4983480"/>
            <a:ext cx="1078992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5001768"/>
            <a:ext cx="969264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Browser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5792" y="4983480"/>
            <a:ext cx="658368" cy="292608"/>
          </a:xfrm>
          <a:prstGeom prst="roundRect">
            <a:avLst/>
          </a:prstGeom>
          <a:solidFill>
            <a:srgbClr val="FAE7E8"/>
          </a:solidFill>
          <a:ln>
            <a:solidFill>
              <a:srgbClr val="FA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0656" y="5001768"/>
            <a:ext cx="5486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D33742"/>
                </a:solidFill>
                <a:latin typeface="Aptos"/>
              </a:defRPr>
            </a:pPr>
            <a: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79608" y="4983480"/>
            <a:ext cx="777240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34472" y="5001768"/>
            <a:ext cx="667512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31352" y="5532120"/>
            <a:ext cx="2834640" cy="502920"/>
          </a:xfrm>
          <a:prstGeom prst="roundRect">
            <a:avLst/>
          </a:prstGeom>
          <a:solidFill>
            <a:srgbClr val="053427"/>
          </a:solidFill>
          <a:ln>
            <a:solidFill>
              <a:srgbClr val="05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5632704"/>
            <a:ext cx="2542032" cy="2377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Supports bursar follow-up and management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4489704"/>
            <a:ext cx="6748272" cy="1728216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6748272" cy="3035808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Parent portal and bank payment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2-parent-dashboard.png"/>
          <p:cNvPicPr>
            <a:picLocks noChangeAspect="1"/>
          </p:cNvPicPr>
          <p:nvPr/>
        </p:nvPicPr>
        <p:blipFill>
          <a:blip r:embed="rId2"/>
          <a:srcRect t="14011" b="14011"/>
          <a:stretch>
            <a:fillRect/>
          </a:stretch>
        </p:blipFill>
        <p:spPr>
          <a:xfrm>
            <a:off x="502920" y="1280160"/>
            <a:ext cx="6748272" cy="3035808"/>
          </a:xfrm>
          <a:prstGeom prst="rect">
            <a:avLst/>
          </a:prstGeom>
        </p:spPr>
      </p:pic>
      <p:pic>
        <p:nvPicPr>
          <p:cNvPr id="9" name="Picture 8" descr="14-parent-bank-payment.png"/>
          <p:cNvPicPr>
            <a:picLocks noChangeAspect="1"/>
          </p:cNvPicPr>
          <p:nvPr/>
        </p:nvPicPr>
        <p:blipFill>
          <a:blip r:embed="rId3"/>
          <a:srcRect t="29512" b="29512"/>
          <a:stretch>
            <a:fillRect/>
          </a:stretch>
        </p:blipFill>
        <p:spPr>
          <a:xfrm>
            <a:off x="502920" y="4489704"/>
            <a:ext cx="6748272" cy="17282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79" y="1280160"/>
            <a:ext cx="2514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5-parent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804" y="1280160"/>
            <a:ext cx="2359152" cy="4937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22992" y="1408176"/>
            <a:ext cx="157276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053427"/>
                </a:solidFill>
                <a:latin typeface="Aptos"/>
              </a:defRPr>
            </a:pPr>
            <a:r>
              <a:t>Parent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883664"/>
            <a:ext cx="1600200" cy="33101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View only officially linked children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See expected, paid and outstanding amounts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Review receipts and notification history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Upload NMB/CRDB receipt PDFs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Download clearance when fully paid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C2B27"/>
                </a:solidFill>
                <a:latin typeface="Aptos"/>
              </a:defRPr>
            </a:pPr>
            <a:r>
              <a:t>•  Use desktop or mobile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13848" y="5632704"/>
            <a:ext cx="1527048" cy="292608"/>
          </a:xfrm>
          <a:prstGeom prst="roundRect">
            <a:avLst/>
          </a:prstGeom>
          <a:solidFill>
            <a:srgbClr val="E1EFE9"/>
          </a:solidFill>
          <a:ln>
            <a:solidFill>
              <a:srgbClr val="E1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68712" y="5650992"/>
            <a:ext cx="1417319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950" b="1">
                <a:solidFill>
                  <a:srgbClr val="053427"/>
                </a:solidFill>
                <a:latin typeface="Aptos"/>
              </a:defRPr>
            </a:pPr>
            <a:r>
              <a:t>Phone + password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Final Year Project Report &amp; implemented system · 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0"/>
            <a:ext cx="10085832" cy="13441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7712" y="109728"/>
            <a:ext cx="4297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UNIVERSITY OF DAR ES SALAAM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9424" y="347472"/>
            <a:ext cx="88239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Testing, conclusion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219456"/>
            <a:ext cx="5669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35024"/>
            <a:ext cx="12191695" cy="36576"/>
          </a:xfrm>
          <a:prstGeom prst="rect">
            <a:avLst/>
          </a:prstGeom>
          <a:solidFill>
            <a:srgbClr val="CDA027"/>
          </a:solidFill>
          <a:ln>
            <a:solidFill>
              <a:srgbClr val="CDA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72184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094A37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11095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Automated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2656" y="1472184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0070C0"/>
                </a:solidFill>
                <a:latin typeface="Aptos"/>
              </a:defRPr>
            </a:pPr>
            <a:r>
              <a:t>329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1911095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Assertions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4" y="1472184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CDA02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911095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Report test areas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4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1472184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D33742"/>
                </a:solidFill>
                <a:latin typeface="Aptos"/>
              </a:defRPr>
            </a:pPr>
            <a:r>
              <a:t>3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911095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Access boundaries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1472" y="1353312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1472184"/>
            <a:ext cx="183794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094A37"/>
                </a:solidFill>
                <a:latin typeface="Aptos"/>
              </a:defRPr>
            </a:pPr>
            <a:r>
              <a:t>1–5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911095"/>
            <a:ext cx="1837943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000" b="0">
                <a:solidFill>
                  <a:srgbClr val="5B6D67"/>
                </a:solidFill>
                <a:latin typeface="Aptos"/>
              </a:defRPr>
            </a:pPr>
            <a:r>
              <a:t>Parent batch rule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88336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081528"/>
            <a:ext cx="5138928" cy="20574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The completed system centralises fee records, balances, receipts, reports and parent communication.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Role controls and official parent links protect financial and student information.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All stated project objectives and report test areas were achieved for local demonstration.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688336"/>
            <a:ext cx="3566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053427"/>
                </a:solidFill>
                <a:latin typeface="Aptos"/>
              </a:defRPr>
            </a:pPr>
            <a:r>
              <a:t>Limitations and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081528"/>
            <a:ext cx="5074920" cy="20574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Deploy to a secure production server with automated backups.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Configure live SMS/email credentials and monitor delivery.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Improve bank integrations as structured bank data becomes available.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C2B27"/>
                </a:solidFill>
                <a:latin typeface="Aptos"/>
              </a:defRPr>
            </a:pPr>
            <a:r>
              <a:t>•  Provide staff training and periodic security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77840"/>
            <a:ext cx="10908792" cy="530352"/>
          </a:xfrm>
          <a:prstGeom prst="roundRect">
            <a:avLst/>
          </a:prstGeom>
          <a:solidFill>
            <a:srgbClr val="053427"/>
          </a:solidFill>
          <a:ln>
            <a:solidFill>
              <a:srgbClr val="05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687568"/>
            <a:ext cx="10442448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THANK YOU  ·  QUESTIONS &amp; DEMONSTRATION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98755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50" b="0">
                <a:solidFill>
                  <a:srgbClr val="5B6D67"/>
                </a:solidFill>
                <a:latin typeface="Aptos"/>
              </a:defRPr>
            </a:pPr>
            <a:r>
              <a:t>Sources: Final Year Project Report, implemented system screenshots &amp; automated test suite · July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5952" y="6483096"/>
            <a:ext cx="4114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B6D6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9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9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9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Macintosh PowerPoint</Application>
  <PresentationFormat>Widescreen</PresentationFormat>
  <Paragraphs>291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Bodoni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Baraka Maiseli</dc:creator>
  <cp:lastModifiedBy>sarah gordon</cp:lastModifiedBy>
  <cp:revision>13</cp:revision>
  <dcterms:created xsi:type="dcterms:W3CDTF">2019-09-23T18:48:47Z</dcterms:created>
  <dcterms:modified xsi:type="dcterms:W3CDTF">2026-07-17T11:00:30Z</dcterms:modified>
</cp:coreProperties>
</file>